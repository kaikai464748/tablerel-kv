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FINAL DEFENSE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01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少样本表格语义关系抽取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 baseline 复现、模型融合，到 Wikidata 证据校验与最终 verified rescue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2479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125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核心观点</a:t>
            </a:r>
            <a:endParaRPr sz="1125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571750"/>
            <a:ext cx="7524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我们没有把任务只当作 encoder 分类，而是把 563 类关系预测改造成可审计、可回退、可解释的验证闭环。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67750" y="1752600"/>
            <a:ext cx="2362200" cy="2247900"/>
          </a:xfrm>
          <a:prstGeom prst="rect">
            <a:avLst/>
          </a:prstGeom>
          <a:solidFill>
            <a:srgbClr val="111A2E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915400" y="2019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16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探索</a:t>
            </a:r>
            <a:r>
              <a:rPr sz="16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主线</a:t>
            </a:r>
            <a:endParaRPr sz="16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15400" y="2476500"/>
            <a:ext cx="1619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早期试错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数据治理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多模型候选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约束审查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Wikidata 强校验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分档提交与回退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495800"/>
            <a:ext cx="163830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4495800"/>
            <a:ext cx="47625" cy="9525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4629150"/>
            <a:ext cx="1371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4068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99110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测试样本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5200650"/>
            <a:ext cx="1371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Subject/Object pairs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38400" y="4495800"/>
            <a:ext cx="163830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438400" y="4495800"/>
            <a:ext cx="47625" cy="9525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609850" y="4629150"/>
            <a:ext cx="1371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563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609850" y="499110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候选关系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609850" y="5200650"/>
            <a:ext cx="1371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labels.txt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267200" y="449580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267200" y="4495800"/>
            <a:ext cx="47625" cy="9525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438650" y="462915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61,358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438650" y="499110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最终训练行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438650" y="520065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clean + augmented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67450" y="449580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267450" y="4495800"/>
            <a:ext cx="47625" cy="952500"/>
          </a:xfrm>
          <a:prstGeom prst="rect">
            <a:avLst/>
          </a:prstGeom>
          <a:solidFill>
            <a:srgbClr val="7BD8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438900" y="462915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0.90457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438900" y="499110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最终得分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38900" y="520065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05 verified rescue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5810250"/>
            <a:ext cx="666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最终提交：submit_final_verified_rescue.csv</a:t>
            </a:r>
            <a:endParaRPr sz="105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来源：E:\BS3-2 早期尝试 + CTA 最终审计与救援输出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Personal Info Panel"/>
          <p:cNvSpPr txBox="1"/>
          <p:nvPr/>
        </p:nvSpPr>
        <p:spPr>
          <a:xfrm>
            <a:off x="8667750" y="4267200"/>
            <a:ext cx="2857500" cy="1181735"/>
          </a:xfrm>
          <a:prstGeom prst="rect">
            <a:avLst/>
          </a:prstGeom>
          <a:solidFill>
            <a:srgbClr val="111A2E"/>
          </a:solidFill>
          <a:ln w="9525">
            <a:solidFill>
              <a:srgbClr val="273855"/>
            </a:solidFill>
          </a:ln>
        </p:spPr>
        <p:txBody>
          <a:bodyPr wrap="square" rtlCol="0" anchor="t">
            <a:noAutofit/>
          </a:bodyPr>
          <a:lstStyle/>
          <a:p>
            <a:r>
              <a:rPr lang="en-US" altLang="zh-CN" sz="145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  </a:t>
            </a:r>
            <a:r>
              <a:rPr lang="zh-CN" sz="145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开发信息</a:t>
            </a:r>
            <a:endParaRPr lang="zh-CN" sz="1450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endParaRPr lang="zh-CN" sz="123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r>
              <a:rPr lang="en-US" altLang="zh-CN" sz="123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   </a:t>
            </a:r>
            <a:r>
              <a:rPr lang="zh-CN" sz="123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学校：SCNU</a:t>
            </a:r>
            <a:endParaRPr lang="zh-CN" sz="123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r>
              <a:rPr lang="en-US" altLang="zh-CN" sz="123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   </a:t>
            </a:r>
            <a:r>
              <a:rPr lang="zh-CN" sz="123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姓名：魏良铠</a:t>
            </a:r>
            <a:endParaRPr lang="zh-CN" sz="123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  <a:p>
            <a:r>
              <a:rPr lang="en-US" altLang="zh-CN" sz="123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  </a:t>
            </a:r>
            <a:endParaRPr lang="zh-CN" sz="123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WHY IT IS HARD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02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评分机制决定：长尾关系比高频准确率更值钱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少样本权重与关系数量绑定，越稀有的标签越不能靠高频吸附蒙混过关。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133600"/>
            <a:ext cx="4953000" cy="281940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4384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少样本加权</a:t>
            </a:r>
            <a:endParaRPr sz="1275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2876550"/>
            <a:ext cx="400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关系类型样本越少，权重越高。</a:t>
            </a:r>
            <a:endParaRPr sz="15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5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因此整体 accuracy 高，不等于最终分高。</a:t>
            </a:r>
            <a:endParaRPr sz="15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5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方向关系一旦反了，往往会伤到高权重样本。</a:t>
            </a:r>
            <a:endParaRPr sz="15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4171950"/>
            <a:ext cx="66675" cy="666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62050" y="4095750"/>
            <a:ext cx="3733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9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不要只压 instance of / country 这类高频预测</a:t>
            </a:r>
            <a:endParaRPr sz="109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4495800"/>
            <a:ext cx="66675" cy="66675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62050" y="4419600"/>
            <a:ext cx="3733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9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必须救出 top-k 中可信的稀有标签</a:t>
            </a:r>
            <a:endParaRPr sz="109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24600" y="21145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最终训练集标签分布压力</a:t>
            </a:r>
            <a:endParaRPr sz="120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0" y="25527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instance of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0" y="257175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2571750"/>
            <a:ext cx="3429000" cy="1524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353800" y="25336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5132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0" y="29718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country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0" y="299085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667750" y="2990850"/>
            <a:ext cx="2138114" cy="1524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353800" y="29527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3200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0" y="33909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located in admin entity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667750" y="340995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667750" y="3409950"/>
            <a:ext cx="1473962" cy="1524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353800" y="33718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2206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0" y="38100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part of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0" y="382905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667750" y="3829050"/>
            <a:ext cx="844555" cy="1524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353800" y="37909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1264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0" y="42291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floruit / rare tails</a:t>
            </a:r>
            <a:r>
              <a:rPr lang="en-US"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......</a:t>
            </a:r>
            <a:endParaRPr lang="zh-CN" altLang="en-US"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667750" y="424815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667750" y="4248150"/>
            <a:ext cx="19050" cy="15240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1353800" y="42100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82000" y="4857750"/>
            <a:ext cx="2476500" cy="285750"/>
          </a:xfrm>
          <a:prstGeom prst="rect">
            <a:avLst/>
          </a:prstGeom>
          <a:solidFill>
            <a:srgbClr val="1E2B45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477250" y="49339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规模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715500" y="49339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数值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620250" y="48577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382000" y="5143500"/>
            <a:ext cx="2476500" cy="2857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477250" y="521970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候选标签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715500" y="521970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563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620250" y="51435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382000" y="5429250"/>
            <a:ext cx="2476500" cy="2857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477250" y="55054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最终训练样本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715500" y="55054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61,358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620250" y="54292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382000" y="5715000"/>
            <a:ext cx="2476500" cy="2857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477250" y="579120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最大类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715500" y="579120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5,132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620250" y="57150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382000" y="6000750"/>
            <a:ext cx="2476500" cy="2857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477250" y="60769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最小类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9715500" y="6076950"/>
            <a:ext cx="1085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620250" y="60007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2804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来源：赛题概况.md；Train_Set_clean_augmented 标签计数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EARLY ASSETS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03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前期尝试不是绕路，而是在沉淀约束条件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前 20 天的版本记录，给后期冲分提供了模型、数据、标签和风控经验。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190750"/>
            <a:ext cx="3143250" cy="133350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190750"/>
            <a:ext cx="57150" cy="13335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2400300"/>
            <a:ext cx="59055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09650" y="2457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V3</a:t>
            </a:r>
            <a:endParaRPr sz="90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95450" y="2381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0.70099</a:t>
            </a:r>
            <a:endParaRPr sz="165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2743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回到 softmax 多分类</a:t>
            </a:r>
            <a:endParaRPr sz="12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4400" y="30289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Cross-encoder 不适配后，回到稳定主线。</a:t>
            </a:r>
            <a:endParaRPr sz="9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62450" y="2190750"/>
            <a:ext cx="3143250" cy="133350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362450" y="2190750"/>
            <a:ext cx="57150" cy="13335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572000" y="2400300"/>
            <a:ext cx="59055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667250" y="2457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EA8F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6EA8F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V4</a:t>
            </a:r>
            <a:endParaRPr sz="900" b="1">
              <a:solidFill>
                <a:srgbClr val="6EA8FE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53050" y="2381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0.71827</a:t>
            </a:r>
            <a:endParaRPr sz="165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72000" y="2743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噪声感知清洗</a:t>
            </a:r>
            <a:endParaRPr sz="12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72000" y="30289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OOF、冲突、类型错位共同打分。</a:t>
            </a:r>
            <a:endParaRPr sz="9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020050" y="2190750"/>
            <a:ext cx="3143250" cy="133350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020050" y="2190750"/>
            <a:ext cx="57150" cy="13335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229600" y="2400300"/>
            <a:ext cx="59055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24850" y="2457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V5</a:t>
            </a:r>
            <a:endParaRPr sz="9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10650" y="2381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0.72371</a:t>
            </a:r>
            <a:endParaRPr sz="165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29600" y="27432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5-seed + 阈值融合</a:t>
            </a:r>
            <a:endParaRPr sz="12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229600" y="30289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tau 搜索与多 seed 稳定输出。</a:t>
            </a:r>
            <a:endParaRPr sz="9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04850" y="3829050"/>
            <a:ext cx="3143250" cy="133350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04850" y="3829050"/>
            <a:ext cx="57150" cy="1333500"/>
          </a:xfrm>
          <a:prstGeom prst="rect">
            <a:avLst/>
          </a:prstGeom>
          <a:solidFill>
            <a:srgbClr val="7BD8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14400" y="4038600"/>
            <a:ext cx="59055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09650" y="40957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7BD8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7BD8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V6</a:t>
            </a:r>
            <a:endParaRPr sz="900" b="1">
              <a:solidFill>
                <a:srgbClr val="7BD8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695450" y="40195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0.79908</a:t>
            </a:r>
            <a:endParaRPr sz="165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4400" y="4381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sidecar</a:t>
            </a:r>
            <a:endParaRPr sz="12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14400" y="46672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ArcheType 思想迁移到关系抽取。</a:t>
            </a:r>
            <a:endParaRPr sz="9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362450" y="3829050"/>
            <a:ext cx="3143250" cy="133350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362450" y="3829050"/>
            <a:ext cx="57150" cy="1333500"/>
          </a:xfrm>
          <a:prstGeom prst="rect">
            <a:avLst/>
          </a:prstGeom>
          <a:solidFill>
            <a:srgbClr val="B49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572000" y="4038600"/>
            <a:ext cx="59055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667250" y="40957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B495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B495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V7</a:t>
            </a:r>
            <a:endParaRPr sz="900" b="1">
              <a:solidFill>
                <a:srgbClr val="B495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353050" y="40195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0.81325</a:t>
            </a:r>
            <a:endParaRPr sz="165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572000" y="4381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10-seed + 精细触发</a:t>
            </a:r>
            <a:endParaRPr sz="12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572000" y="46672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低置信与脆弱标签进入审查。</a:t>
            </a:r>
            <a:endParaRPr sz="9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020050" y="3829050"/>
            <a:ext cx="3143250" cy="133350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020050" y="3829050"/>
            <a:ext cx="57150" cy="133350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229600" y="4038600"/>
            <a:ext cx="59055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324850" y="40957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6B6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F6B6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0523</a:t>
            </a:r>
            <a:endParaRPr sz="900" b="1">
              <a:solidFill>
                <a:srgbClr val="FF6B6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010650" y="40195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0.8313</a:t>
            </a:r>
            <a:endParaRPr sz="165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229600" y="43815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稀有标签工程</a:t>
            </a:r>
            <a:endParaRPr sz="12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229600" y="4667250"/>
            <a:ext cx="2628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GPT/Qwen/DeepSeek 辅助小步替换。</a:t>
            </a:r>
            <a:endParaRPr sz="9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14400" y="5562600"/>
            <a:ext cx="9810750" cy="49530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162050" y="5734050"/>
            <a:ext cx="914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沉淀下来的判断：不要盲目换模型；先修分布、修噪声、修方向，再让 LLM 和知识图谱只处理最有价值的不确定样本。</a:t>
            </a:r>
            <a:endParaRPr sz="12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0960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来源：E:\BS3-2\第七届人工智能挑战赛\结果、0519、0523、NewPlans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DATA ENGINEERING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04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数据清洗是第一块天花板：先去噪，再扩长尾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早期报告已经提示：重复、跨标签污染、长尾缺样本，会直接决定模型上限。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17170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171700"/>
            <a:ext cx="47625" cy="9525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30505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39,233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66700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原始训练行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287655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 Train_Set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628900" y="217170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628900" y="2171700"/>
            <a:ext cx="47625" cy="95250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800350" y="230505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3,881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00350" y="266700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文件内重复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00350" y="287655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早期审计暴露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648200" y="217170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48200" y="2171700"/>
            <a:ext cx="47625" cy="9525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19650" y="230505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449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19650" y="266700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冲突 pair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819650" y="287655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跨文件重复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67500" y="217170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67500" y="2171700"/>
            <a:ext cx="47625" cy="952500"/>
          </a:xfrm>
          <a:prstGeom prst="rect">
            <a:avLst/>
          </a:prstGeom>
          <a:solidFill>
            <a:srgbClr val="7BD8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38950" y="230505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61,358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38950" y="266700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最终训练行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838950" y="287655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clean augmented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3600450"/>
            <a:ext cx="5005705" cy="225679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85850" y="38862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清洗策略</a:t>
            </a:r>
            <a:endParaRPr sz="120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90600" y="4229100"/>
            <a:ext cx="4476750" cy="285750"/>
          </a:xfrm>
          <a:prstGeom prst="rect">
            <a:avLst/>
          </a:prstGeom>
          <a:solidFill>
            <a:srgbClr val="1E2B45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85850" y="430530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问题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514600" y="4305300"/>
            <a:ext cx="2895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处理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419350" y="42291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90600" y="4514850"/>
            <a:ext cx="4476750" cy="2857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85850" y="45910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同文件重复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514600" y="4591050"/>
            <a:ext cx="2895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去重并保留来源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419350" y="45148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90600" y="4800600"/>
            <a:ext cx="4476750" cy="2857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85850" y="487680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跨标签重复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514600" y="4876800"/>
            <a:ext cx="2895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结合标签语义和证据筛查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419350" y="48006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90600" y="5086350"/>
            <a:ext cx="4476750" cy="2857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85850" y="51625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低质增强样本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514600" y="5162550"/>
            <a:ext cx="2895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按质量权重进入训练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419350" y="50863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90600" y="5372100"/>
            <a:ext cx="4476750" cy="2857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085850" y="544830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长尾标签缺样本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514600" y="5448300"/>
            <a:ext cx="2895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Wikidata claim 定向增强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419350" y="53721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210300" y="3600450"/>
            <a:ext cx="4258945" cy="225679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496050" y="38862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为什么有效</a:t>
            </a:r>
            <a:endParaRPr sz="12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496050" y="4267200"/>
            <a:ext cx="36576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1. 先减少错误监督，避免模型记住冲突 pair。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2. 再增加长尾样本，提升稀有标签召回。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3. 保留 563 类全覆盖，防止缺标签造成系统性失分。</a:t>
            </a:r>
            <a:endParaRPr sz="1275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09600" y="6353175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来源：data_analysis_report.md、data_report.md、Train_Set_clean_augmented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SYSTEM DESIGN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05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把 563 类分类改造成分层验证闭环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每一层只做自己擅长的事：模型召回，语义审查，图谱给证据，提交策略控风险。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266950"/>
            <a:ext cx="19240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266950"/>
            <a:ext cx="66675" cy="10668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01</a:t>
            </a:r>
            <a:endParaRPr sz="135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2400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清洗训练集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7241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去重、冲突治理、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Wiki data 增强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52700" y="2800350"/>
            <a:ext cx="22860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781300" y="2266950"/>
            <a:ext cx="19240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781300" y="2266950"/>
            <a:ext cx="66675" cy="10668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527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A8F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6EA8F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02</a:t>
            </a:r>
            <a:endParaRPr sz="1350" b="1">
              <a:solidFill>
                <a:srgbClr val="6EA8FE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14700" y="2400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多模型候选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070860" y="2724150"/>
            <a:ext cx="146304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BERT / RoBERTa / DeBERTa，多 seed top-k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24400" y="2800350"/>
            <a:ext cx="228600" cy="28575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2266950"/>
            <a:ext cx="19240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53000" y="2266950"/>
            <a:ext cx="66675" cy="10668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1244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03</a:t>
            </a:r>
            <a:endParaRPr sz="135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486400" y="2400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审查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63845" y="2724150"/>
            <a:ext cx="134175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selector / verifier / rescue 只在候选内判断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96100" y="2800350"/>
            <a:ext cx="228600" cy="28575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124700" y="2266950"/>
            <a:ext cx="19240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124700" y="2266950"/>
            <a:ext cx="66675" cy="106680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961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6B6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F6B6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04</a:t>
            </a:r>
            <a:endParaRPr sz="1350" b="1">
              <a:solidFill>
                <a:srgbClr val="FF6B6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658100" y="2400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Wikidata 校验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58100" y="272415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direct / reverse claim，别名与 sitelink 反查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067800" y="2800350"/>
            <a:ext cx="228600" cy="28575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296400" y="2266950"/>
            <a:ext cx="19240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296400" y="2266950"/>
            <a:ext cx="66675" cy="1066800"/>
          </a:xfrm>
          <a:prstGeom prst="rect">
            <a:avLst/>
          </a:prstGeom>
          <a:solidFill>
            <a:srgbClr val="7BD8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4678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BD8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7BD8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05</a:t>
            </a:r>
            <a:endParaRPr sz="1350" b="1">
              <a:solidFill>
                <a:srgbClr val="7BD8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829800" y="2400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分档提交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829800" y="272415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safe / conservative / aggressive / rollback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14400" y="4457700"/>
            <a:ext cx="4309745" cy="1243965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200150" y="47053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候选压缩</a:t>
            </a:r>
            <a:endParaRPr sz="12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200150" y="5048250"/>
            <a:ext cx="38195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563 labels → Top-30 / Top-50 / Top-100</a:t>
            </a:r>
            <a:endParaRPr sz="1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861050" y="4457700"/>
            <a:ext cx="4042410" cy="1243965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268720" y="47053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产物不是单一 submission</a:t>
            </a:r>
            <a:endParaRPr sz="120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283960" y="504825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submission + change report + 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label delta + validation summary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0960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来源：0525 训练/重预测代码、repredict_719_package、最终审计输出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+ LITERATURE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06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不是替代模型，而是受约束的语义裁判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论文给方向，top-k 给边界，LLM 只在候选关系内做二审和难例救援。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190750"/>
            <a:ext cx="3143250" cy="232410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4574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论文启发</a:t>
            </a:r>
            <a:endParaRPr sz="120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857500"/>
            <a:ext cx="2762250" cy="323850"/>
          </a:xfrm>
          <a:prstGeom prst="rect">
            <a:avLst/>
          </a:prstGeom>
          <a:solidFill>
            <a:srgbClr val="1E2B45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29337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材料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71700" y="293370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迁移到本题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076450" y="2857500"/>
            <a:ext cx="9525" cy="3238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71550" y="3181350"/>
            <a:ext cx="2762250" cy="3238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66800" y="32575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DODUO / Table PLM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71700" y="325755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表格上下文序列化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076450" y="3181350"/>
            <a:ext cx="9525" cy="3238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71550" y="3505200"/>
            <a:ext cx="2762250" cy="3238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358140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ArcheType 2024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171700" y="358140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代表 pair + prompt + remap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076450" y="3505200"/>
            <a:ext cx="9525" cy="3238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1550" y="3829050"/>
            <a:ext cx="2762250" cy="3238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66800" y="3905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Self-refinement CTA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171700" y="390525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verifier / rerank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076450" y="3829050"/>
            <a:ext cx="9525" cy="3238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438650" y="2190750"/>
            <a:ext cx="3143250" cy="232410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724400" y="24574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三种角色</a:t>
            </a:r>
            <a:endParaRPr sz="12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724400" y="2895600"/>
            <a:ext cx="99060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819650" y="29527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Selector</a:t>
            </a:r>
            <a:endParaRPr sz="90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905500" y="2895600"/>
            <a:ext cx="99060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000750" y="29527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Verifier</a:t>
            </a:r>
            <a:endParaRPr sz="9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724400" y="3352800"/>
            <a:ext cx="99060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819650" y="34099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7BD8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7BD8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Rescue</a:t>
            </a:r>
            <a:endParaRPr sz="900" b="1">
              <a:solidFill>
                <a:srgbClr val="7BD8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905500" y="3352800"/>
            <a:ext cx="990600" cy="304800"/>
          </a:xfrm>
          <a:prstGeom prst="rect">
            <a:avLst/>
          </a:prstGeom>
          <a:solidFill>
            <a:srgbClr val="1E2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000750" y="34099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6B6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F6B6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Reject</a:t>
            </a:r>
            <a:endParaRPr sz="900" b="1">
              <a:solidFill>
                <a:srgbClr val="FF6B6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724400" y="39052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只看当前预测与 top-k 候选；无法确认时不强改，避免把搜索结果当事实。</a:t>
            </a:r>
            <a:endParaRPr sz="101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191500" y="2190750"/>
            <a:ext cx="3143250" cy="2190750"/>
          </a:xfrm>
          <a:prstGeom prst="rect">
            <a:avLst/>
          </a:prstGeom>
          <a:solidFill>
            <a:srgbClr val="17233A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477250" y="24574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EA8F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6EA8F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成本控制</a:t>
            </a:r>
            <a:endParaRPr sz="1200" b="1">
              <a:solidFill>
                <a:srgbClr val="6EA8FE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477250" y="2857500"/>
            <a:ext cx="247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本地 Qwen2.5-72B 做批量推理；DeepSeek / GPT / Qwen API 只审高风险样本。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477250" y="373380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最终形成：模型召回负责广度，LLM 负责边界判断，知识图谱负责证据。</a:t>
            </a:r>
            <a:endParaRPr sz="101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43000" y="4953000"/>
            <a:ext cx="8953500" cy="5143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428750" y="5124450"/>
            <a:ext cx="838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关键转变：从“让大模型重新预测 4068 行”改为“让大模型裁决少量经过模型和证据筛出的疑难样本”。</a:t>
            </a:r>
            <a:endParaRPr sz="12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0960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来源：论文解读.md、V6/V7/V10/V11 方案、NewPlans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EVIDENCE AUDIT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07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Wikidata 给证据，方向关系要做反向校验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直接 claim 保留，反向 claim 纠偏，多关系证据谨慎处理，仍未验证才进入语义判断。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1336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4068 行图谱审计结果</a:t>
            </a:r>
            <a:endParaRPr sz="135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6670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直接验证正确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76600" y="2686050"/>
            <a:ext cx="390525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276600" y="2686050"/>
            <a:ext cx="3905250" cy="152400"/>
          </a:xfrm>
          <a:prstGeom prst="rect">
            <a:avLst/>
          </a:prstGeom>
          <a:solidFill>
            <a:srgbClr val="7BD8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6479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2718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4850" y="30861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多个直接关系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76600" y="3105150"/>
            <a:ext cx="390525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276600" y="3105150"/>
            <a:ext cx="364950" cy="1524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38900" y="30670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254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" y="35052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Wikidata 改标签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276600" y="3524250"/>
            <a:ext cx="390525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276600" y="3524250"/>
            <a:ext cx="64656" cy="1524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38900" y="34861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45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39243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反向证据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276600" y="3943350"/>
            <a:ext cx="390525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276600" y="3943350"/>
            <a:ext cx="51725" cy="15240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438900" y="39052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36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4850" y="434340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初始未验证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276600" y="4362450"/>
            <a:ext cx="390525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276600" y="4362450"/>
            <a:ext cx="1456925" cy="1524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438900" y="43243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1014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334250" y="2133600"/>
            <a:ext cx="3619500" cy="220980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600950" y="24003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典型方向纠偏</a:t>
            </a:r>
            <a:endParaRPr sz="1275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00950" y="2743200"/>
            <a:ext cx="3143250" cy="285750"/>
          </a:xfrm>
          <a:prstGeom prst="rect">
            <a:avLst/>
          </a:prstGeom>
          <a:solidFill>
            <a:srgbClr val="1E2B45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696200" y="2819400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错误形态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220200" y="28194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纠偏方向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24950" y="27432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600950" y="3028950"/>
            <a:ext cx="3143250" cy="2857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696200" y="3105150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has part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220200" y="310515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part of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124950" y="30289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600950" y="3314700"/>
            <a:ext cx="3143250" cy="2857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696200" y="3390900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participant of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220200" y="33909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participant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124950" y="33147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600950" y="3600450"/>
            <a:ext cx="3143250" cy="2857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696200" y="3676650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owner of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220200" y="367665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owned by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124950" y="36004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600950" y="3886200"/>
            <a:ext cx="3143250" cy="2857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696200" y="3962400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contains admin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220200" y="39624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located in admin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124950" y="38862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334250" y="4572000"/>
            <a:ext cx="3619500" cy="9715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600950" y="48006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工程细节</a:t>
            </a:r>
            <a:endParaRPr sz="120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600950" y="51054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pid_cache + SPARQL/API + Wikipedia sitelink/alias 反查，降低实体搜错带来的误判。</a:t>
            </a:r>
            <a:endParaRPr sz="101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0960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来源：wikidata_audit_output_reaudit_final、极限打标说明、最终 rescue 变更报告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FINAL RESCUE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08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最后一次提分来自 27 条 verified rescue，而不是放开大改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05_submit_final_verified_rescue.csv：只接受强证据方向纠偏与少量高可信语义修正。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07645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076450"/>
            <a:ext cx="47625" cy="952500"/>
          </a:xfrm>
          <a:prstGeom prst="rect">
            <a:avLst/>
          </a:prstGeom>
          <a:solidFill>
            <a:srgbClr val="7BD8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20980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0.90457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57175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最终得分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278130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user feedback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628900" y="207645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628900" y="2076450"/>
            <a:ext cx="47625" cy="9525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800350" y="220980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27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00350" y="257175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相对 04 改动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00350" y="278130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verified edits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648200" y="207645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48200" y="2076450"/>
            <a:ext cx="47625" cy="9525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19650" y="220980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530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19650" y="257175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唯一标签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819650" y="278130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legal labels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67500" y="2076450"/>
            <a:ext cx="1809750" cy="952500"/>
          </a:xfrm>
          <a:prstGeom prst="rect">
            <a:avLst/>
          </a:prstGeom>
          <a:solidFill>
            <a:srgbClr val="17233A"/>
          </a:solidFill>
          <a:ln w="9525">
            <a:solidFill>
              <a:srgbClr val="26344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67500" y="2076450"/>
            <a:ext cx="47625" cy="9525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38950" y="220980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 / 0</a:t>
            </a:r>
            <a:endParaRPr sz="202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38950" y="257175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非法/空标签</a:t>
            </a:r>
            <a:endParaRPr sz="90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838950" y="278130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validation pass</a:t>
            </a:r>
            <a:endParaRPr sz="675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34290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27 条改动的主要来源</a:t>
            </a:r>
            <a:endParaRPr sz="1275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5800" y="390525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reverse P150 direction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257550" y="392430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257550" y="3924300"/>
            <a:ext cx="3429000" cy="1524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943600" y="38862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8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85800" y="432435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reverse has part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257550" y="434340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257550" y="4343400"/>
            <a:ext cx="2571750" cy="1524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43600" y="43053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85800" y="474345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reverse capital of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257550" y="476250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3257550" y="4762500"/>
            <a:ext cx="1285875" cy="1524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943600" y="47244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85800" y="5162550"/>
            <a:ext cx="2428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reverse legislative body</a:t>
            </a:r>
            <a:endParaRPr sz="9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257550" y="5181600"/>
            <a:ext cx="3429000" cy="152400"/>
          </a:xfrm>
          <a:prstGeom prst="rect">
            <a:avLst/>
          </a:prstGeom>
          <a:solidFill>
            <a:srgbClr val="243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257550" y="5181600"/>
            <a:ext cx="857250" cy="152400"/>
          </a:xfrm>
          <a:prstGeom prst="rect">
            <a:avLst/>
          </a:prstGeom>
          <a:solidFill>
            <a:srgbClr val="FF6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943600" y="51435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</a:t>
            </a:r>
            <a:endParaRPr sz="9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239000" y="3390900"/>
            <a:ext cx="3429000" cy="213360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524750" y="36576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代表性 Before → After</a:t>
            </a:r>
            <a:endParaRPr sz="12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524750" y="4000500"/>
            <a:ext cx="3048000" cy="285750"/>
          </a:xfrm>
          <a:prstGeom prst="rect">
            <a:avLst/>
          </a:prstGeom>
          <a:solidFill>
            <a:srgbClr val="1E2B45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620000" y="407670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Before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048750" y="40767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After</a:t>
            </a:r>
            <a:endParaRPr sz="9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953500" y="40005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524750" y="4286250"/>
            <a:ext cx="3048000" cy="2857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620000" y="43624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contains admin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048750" y="436245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located in admin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953500" y="42862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524750" y="4572000"/>
            <a:ext cx="3048000" cy="2857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620000" y="464820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has part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048750" y="46482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part of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953500" y="45720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524750" y="4857750"/>
            <a:ext cx="3048000" cy="285750"/>
          </a:xfrm>
          <a:prstGeom prst="rect">
            <a:avLst/>
          </a:prstGeom>
          <a:solidFill>
            <a:srgbClr val="132039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620000" y="493395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located in admin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9048750" y="493395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capital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953500" y="485775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7524750" y="5143500"/>
            <a:ext cx="3048000" cy="2857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7620000" y="5219700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legislative body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9048750" y="5219700"/>
            <a:ext cx="146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4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applies to jurisdiction</a:t>
            </a:r>
            <a:endParaRPr sz="84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953500" y="5143500"/>
            <a:ext cx="9525" cy="285750"/>
          </a:xfrm>
          <a:prstGeom prst="rect">
            <a:avLst/>
          </a:prstGeom>
          <a:solidFill>
            <a:srgbClr val="2738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60960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来源：final_two_validation_summary.csv、05_changes_final_verified_rescue.csv；分数来自用户提交反馈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SCORE TRAJECTORY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09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每一次跃迁都对应一个系统能力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 0.686 到 0.90457，后期每一条改动都经过证据分级和提交验证。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5143500"/>
            <a:ext cx="8382000" cy="19050"/>
          </a:xfrm>
          <a:prstGeom prst="rect">
            <a:avLst/>
          </a:prstGeom>
          <a:solidFill>
            <a:srgbClr val="314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2667000"/>
            <a:ext cx="19050" cy="2476500"/>
          </a:xfrm>
          <a:prstGeom prst="rect">
            <a:avLst/>
          </a:prstGeom>
          <a:solidFill>
            <a:srgbClr val="314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52475" y="4829175"/>
            <a:ext cx="133350" cy="13335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449580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0.686</a:t>
            </a:r>
            <a:endParaRPr sz="10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50673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Baseline</a:t>
            </a:r>
            <a:endParaRPr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9150" y="4895850"/>
            <a:ext cx="10477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866900" y="4753070"/>
            <a:ext cx="28575" cy="14278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800225" y="4686395"/>
            <a:ext cx="133350" cy="13335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47800" y="4353020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0.701</a:t>
            </a:r>
            <a:endParaRPr sz="10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47800" y="492452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V3 数据回正</a:t>
            </a:r>
            <a:endParaRPr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866900" y="4753070"/>
            <a:ext cx="10477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914650" y="4536662"/>
            <a:ext cx="28575" cy="216408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847975" y="4469987"/>
            <a:ext cx="133350" cy="13335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495550" y="4136612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0.724</a:t>
            </a:r>
            <a:endParaRPr sz="10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495550" y="4819872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5-seed</a:t>
            </a:r>
            <a:endParaRPr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14650" y="4536662"/>
            <a:ext cx="10477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3962400" y="3818763"/>
            <a:ext cx="28575" cy="717899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95725" y="3752088"/>
            <a:ext cx="133350" cy="13335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543300" y="3418713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0.799</a:t>
            </a:r>
            <a:endParaRPr sz="10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40100" y="3990213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V6 LLM</a:t>
            </a:r>
            <a:endParaRPr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962400" y="3818763"/>
            <a:ext cx="10477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010150" y="3683794"/>
            <a:ext cx="28575" cy="134969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943475" y="3617119"/>
            <a:ext cx="133350" cy="13335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591050" y="3283744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0.813</a:t>
            </a:r>
            <a:endParaRPr sz="10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591050" y="3855244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V7 Pro</a:t>
            </a:r>
            <a:endParaRPr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010150" y="3683794"/>
            <a:ext cx="10477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57900" y="3511868"/>
            <a:ext cx="28575" cy="171926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991225" y="3445193"/>
            <a:ext cx="133350" cy="13335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638800" y="3111818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0.831</a:t>
            </a:r>
            <a:endParaRPr sz="10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638800" y="3779838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稀有标签工程</a:t>
            </a:r>
            <a:endParaRPr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057900" y="3511868"/>
            <a:ext cx="10477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105650" y="3004661"/>
            <a:ext cx="28575" cy="507206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038975" y="2937986"/>
            <a:ext cx="133350" cy="13335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86550" y="2604611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0.884</a:t>
            </a:r>
            <a:endParaRPr sz="10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686550" y="3602831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语义网页审查</a:t>
            </a:r>
            <a:endParaRPr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105650" y="3004661"/>
            <a:ext cx="10477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153400" y="2853404"/>
            <a:ext cx="28575" cy="151257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086725" y="2786729"/>
            <a:ext cx="133350" cy="13335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734300" y="2453354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0.900</a:t>
            </a:r>
            <a:endParaRPr sz="10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734300" y="3080734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保守微改</a:t>
            </a:r>
            <a:r>
              <a:rPr lang="zh-CN" altLang="en-US"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反向关系</a:t>
            </a:r>
            <a:endParaRPr lang="zh-CN" altLang="en-US"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153400" y="2853404"/>
            <a:ext cx="10477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201150" y="2813971"/>
            <a:ext cx="28575" cy="39433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134475" y="2747296"/>
            <a:ext cx="133350" cy="13335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782050" y="2413921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0.90457</a:t>
            </a:r>
            <a:endParaRPr sz="91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782050" y="2985421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7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verified rescue</a:t>
            </a:r>
            <a:endParaRPr sz="77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620250" y="2876550"/>
            <a:ext cx="1752600" cy="156210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848850" y="31432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最终冲刺</a:t>
            </a:r>
            <a:r>
              <a:rPr lang="zh-CN"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原则</a:t>
            </a:r>
            <a:endParaRPr lang="zh-CN" sz="12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848850" y="3543300"/>
            <a:ext cx="1333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90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Safe 先验分</a:t>
            </a:r>
            <a:endParaRPr sz="1090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090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90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Conservative 验证</a:t>
            </a:r>
            <a:endParaRPr sz="1090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090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90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Aggressive 冲分</a:t>
            </a:r>
            <a:endParaRPr sz="1090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1090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90" b="0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失败则按差集回退</a:t>
            </a:r>
            <a:endParaRPr sz="1090" b="0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0960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来源：提交记录、CTA submission_log、两份 rescue 输出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668000" y="0"/>
            <a:ext cx="1524000" cy="762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476250"/>
            <a:ext cx="323850" cy="28575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/>
          <p:cNvSpPr>
            <a:spLocks noGrp="1"/>
          </p:cNvSpPr>
          <p:nvPr/>
        </p:nvSpPr>
        <p:spPr>
          <a:xfrm>
            <a:off x="1028700" y="3619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TAKEAWAYS</a:t>
            </a:r>
            <a:endParaRPr sz="1050" b="1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400050"/>
            <a:ext cx="53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</a:t>
            </a:r>
            <a:endParaRPr sz="1050" b="1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800100"/>
            <a:ext cx="942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可继续扩展：RAG 提供证据，LoRA 学会使用证据</a:t>
            </a:r>
            <a:endParaRPr sz="24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1504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最终经验可以迁移到真实数据治理与知识图谱补全场景。</a:t>
            </a:r>
            <a:endParaRPr sz="1200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266950"/>
            <a:ext cx="23812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266950"/>
            <a:ext cx="66675" cy="1066800"/>
          </a:xfrm>
          <a:prstGeom prst="rect">
            <a:avLst/>
          </a:prstGeom>
          <a:solidFill>
            <a:srgbClr val="38D4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38D4C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</a:t>
            </a:r>
            <a:endParaRPr sz="1350" b="1">
              <a:solidFill>
                <a:srgbClr val="38D4C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19200" y="240030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Label-level RAG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2724150"/>
            <a:ext cx="1676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PID、描述、别名、典型样本、正反例库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90900" y="2266950"/>
            <a:ext cx="23812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90900" y="2266950"/>
            <a:ext cx="66675" cy="1066800"/>
          </a:xfrm>
          <a:prstGeom prst="rect">
            <a:avLst/>
          </a:prstGeom>
          <a:solidFill>
            <a:srgbClr val="6EA8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5623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A8F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6EA8F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</a:t>
            </a:r>
            <a:endParaRPr sz="1350" b="1">
              <a:solidFill>
                <a:srgbClr val="6EA8FE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24300" y="240030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Entity-level RAG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924300" y="2724150"/>
            <a:ext cx="1676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QID、aliases、sitelinks、direct / reverse claims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0" y="2266950"/>
            <a:ext cx="23812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096000" y="2266950"/>
            <a:ext cx="66675" cy="1066800"/>
          </a:xfrm>
          <a:prstGeom prst="rect">
            <a:avLst/>
          </a:prstGeom>
          <a:solidFill>
            <a:srgbClr val="FFB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2674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</a:t>
            </a:r>
            <a:endParaRPr sz="135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29400" y="240030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LoRA Judge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29400" y="2724150"/>
            <a:ext cx="1676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学习 top-k candidate 做 yes/no 与 rerank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801100" y="2266950"/>
            <a:ext cx="2381250" cy="1066800"/>
          </a:xfrm>
          <a:prstGeom prst="rect">
            <a:avLst/>
          </a:prstGeom>
          <a:solidFill>
            <a:srgbClr val="17233A"/>
          </a:solidFill>
          <a:ln w="9525">
            <a:solidFill>
              <a:srgbClr val="2C3C5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801100" y="2266950"/>
            <a:ext cx="66675" cy="1066800"/>
          </a:xfrm>
          <a:prstGeom prst="rect">
            <a:avLst/>
          </a:prstGeom>
          <a:solidFill>
            <a:srgbClr val="7BD8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972550" y="24193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7BD8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7BD8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</a:t>
            </a:r>
            <a:endParaRPr sz="1350" b="1">
              <a:solidFill>
                <a:srgbClr val="7BD8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334500" y="2400300"/>
            <a:ext cx="1695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Risk Controller</a:t>
            </a:r>
            <a:endParaRPr sz="1275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334500" y="2724150"/>
            <a:ext cx="1676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2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按证据等级输出 safe / aggressive 版本</a:t>
            </a:r>
            <a:endParaRPr sz="92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067050" y="2800350"/>
            <a:ext cx="323850" cy="28575"/>
          </a:xfrm>
          <a:prstGeom prst="rect">
            <a:avLst/>
          </a:prstGeom>
          <a:solidFill>
            <a:srgbClr val="314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772150" y="2800350"/>
            <a:ext cx="323850" cy="28575"/>
          </a:xfrm>
          <a:prstGeom prst="rect">
            <a:avLst/>
          </a:prstGeom>
          <a:solidFill>
            <a:srgbClr val="314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477250" y="2800350"/>
            <a:ext cx="323850" cy="28575"/>
          </a:xfrm>
          <a:prstGeom prst="rect">
            <a:avLst/>
          </a:prstGeom>
          <a:solidFill>
            <a:srgbClr val="3141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23950" y="4476750"/>
            <a:ext cx="8953500" cy="1123950"/>
          </a:xfrm>
          <a:prstGeom prst="rect">
            <a:avLst/>
          </a:prstGeom>
          <a:solidFill>
            <a:srgbClr val="10192B"/>
          </a:solidFill>
          <a:ln w="9525">
            <a:solidFill>
              <a:srgbClr val="27385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28750" y="47053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最后</a:t>
            </a:r>
            <a:r>
              <a:rPr lang="zh-CN" sz="1200" b="1">
                <a:solidFill>
                  <a:srgbClr val="FFB45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总结</a:t>
            </a:r>
            <a:endParaRPr lang="zh-CN" sz="1200" b="1">
              <a:solidFill>
                <a:srgbClr val="FFB45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428750" y="5048250"/>
            <a:ext cx="781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F5F7F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模型负责召回，知识负责验证，LLM 负责难例判断，提交策略负责控制误伤。</a:t>
            </a:r>
            <a:endParaRPr sz="1800" b="1">
              <a:solidFill>
                <a:srgbClr val="F5F7F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428750" y="54102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15" b="0">
                <a:solidFill>
                  <a:srgbClr val="AAB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不要死磕把大模型训练成 563 类分类器；要把它变成有证据、有候选、有回退的裁判。</a:t>
            </a:r>
            <a:endParaRPr sz="1015" b="0">
              <a:solidFill>
                <a:srgbClr val="AAB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09600" y="6362700"/>
            <a:ext cx="10001250" cy="9525"/>
          </a:xfrm>
          <a:prstGeom prst="rect">
            <a:avLst/>
          </a:prstGeom>
          <a:solidFill>
            <a:srgbClr val="2634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09600" y="649605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6F7F9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答辩总结：证据闭环优先于单点模型崇拜</a:t>
            </a:r>
            <a:endParaRPr sz="750" b="0">
              <a:solidFill>
                <a:srgbClr val="6F7F9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3926</Words>
  <Application>WPS 演示</Application>
  <PresentationFormat>Converted Presentation</PresentationFormat>
  <Paragraphs>562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W.W.W</cp:lastModifiedBy>
  <cp:revision>4</cp:revision>
  <dcterms:created xsi:type="dcterms:W3CDTF">2026-06-02T02:28:00Z</dcterms:created>
  <dcterms:modified xsi:type="dcterms:W3CDTF">2026-06-08T03:14:34Z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C3AF2045472A48DC9E6FB38035227DA6_12</vt:lpwstr>
  </property>
</Properties>
</file>